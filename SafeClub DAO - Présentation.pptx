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28.png" ContentType="image/png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jpeg" ContentType="image/jpe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jpeg" ContentType="image/jpe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jpeg" ContentType="image/jpeg"/>
  <Override PartName="/ppt/media/image45.png" ContentType="image/png"/>
  <Override PartName="/ppt/media/image46.png" ContentType="image/png"/>
  <Override PartName="/ppt/media/image4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6D1F57-FFA6-41B9-95F0-C40F181D1DC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1AA1F0-A240-4BA8-9CED-2DC3BFE425F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57CA9C-FB8B-45AC-AD9A-9842C9FC6B9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D5FD8A-E07F-40FF-BB0E-2D93CFD127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EF3DDB-512A-47C4-95E8-DBA3213A692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A42CAE-EC6C-499E-89E9-4795C6DC21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702482-95E1-457D-8E99-E1BD77A657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DA8249-E8E5-4D71-8663-8EAE06CBCF5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DBBB52-4117-4C8A-8AD7-B43DF34621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15F2F6-3AD6-49B1-A672-FE15A85ED8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D36E5E-C5EB-42C9-BFF3-A9A656BE72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eg"/><Relationship Id="rId7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e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09325e">
                  <a:alpha val="95000"/>
                </a:srgbClr>
              </a:gs>
              <a:gs pos="50000">
                <a:srgbClr val="0a4a6b">
                  <a:alpha val="90000"/>
                </a:srgbClr>
              </a:gs>
              <a:gs pos="100000">
                <a:srgbClr val="00cd82">
                  <a:alpha val="85000"/>
                </a:srgbClr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5200560" y="1981080"/>
            <a:ext cx="609120" cy="37800"/>
          </a:xfrm>
          <a:prstGeom prst="rect">
            <a:avLst/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4" descr="image.png"/>
          <p:cNvPicPr/>
          <p:nvPr/>
        </p:nvPicPr>
        <p:blipFill>
          <a:blip r:embed="rId2"/>
          <a:stretch/>
        </p:blipFill>
        <p:spPr>
          <a:xfrm>
            <a:off x="5924520" y="1847880"/>
            <a:ext cx="342360" cy="30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5"/>
          <p:cNvSpPr/>
          <p:nvPr/>
        </p:nvSpPr>
        <p:spPr>
          <a:xfrm>
            <a:off x="6381720" y="1981080"/>
            <a:ext cx="609120" cy="37800"/>
          </a:xfrm>
          <a:prstGeom prst="rect">
            <a:avLst/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3286080" y="2495520"/>
            <a:ext cx="56098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5851"/>
              </a:lnSpc>
              <a:spcAft>
                <a:spcPts val="1559"/>
              </a:spcAft>
            </a:pPr>
            <a:r>
              <a:rPr b="1" lang="en-US" sz="431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SafeClub DAO</a:t>
            </a:r>
            <a:endParaRPr b="0" lang="fr-FR" sz="43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5486400" y="3581280"/>
            <a:ext cx="1218960" cy="37800"/>
          </a:xfrm>
          <a:prstGeom prst="rect">
            <a:avLst/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3286080" y="4131360"/>
            <a:ext cx="7873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r>
              <a:rPr b="0" lang="en-US" sz="1430" strike="noStrike" u="none">
                <a:solidFill>
                  <a:srgbClr val="f3f4f6"/>
                </a:solidFill>
                <a:effectLst/>
                <a:uFillTx/>
                <a:latin typeface="Inter"/>
              </a:rPr>
              <a:t> Organisation Autonome Décentralisée  pour la gestion des clubs 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10" descr="image.png"/>
          <p:cNvPicPr/>
          <p:nvPr/>
        </p:nvPicPr>
        <p:blipFill>
          <a:blip r:embed="rId3"/>
          <a:stretch/>
        </p:blipFill>
        <p:spPr>
          <a:xfrm>
            <a:off x="4238640" y="6336000"/>
            <a:ext cx="228240" cy="20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11"/>
          <p:cNvSpPr/>
          <p:nvPr/>
        </p:nvSpPr>
        <p:spPr>
          <a:xfrm>
            <a:off x="4543200" y="6301800"/>
            <a:ext cx="601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Sécurisé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12" descr="image.png"/>
          <p:cNvPicPr/>
          <p:nvPr/>
        </p:nvPicPr>
        <p:blipFill>
          <a:blip r:embed="rId4"/>
          <a:stretch/>
        </p:blipFill>
        <p:spPr>
          <a:xfrm>
            <a:off x="5400360" y="6361920"/>
            <a:ext cx="228240" cy="1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13"/>
          <p:cNvSpPr/>
          <p:nvPr/>
        </p:nvSpPr>
        <p:spPr>
          <a:xfrm>
            <a:off x="5705280" y="6301800"/>
            <a:ext cx="77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Transparent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4" descr="image.png"/>
          <p:cNvPicPr/>
          <p:nvPr/>
        </p:nvPicPr>
        <p:blipFill>
          <a:blip r:embed="rId5"/>
          <a:stretch/>
        </p:blipFill>
        <p:spPr>
          <a:xfrm>
            <a:off x="6762600" y="6375960"/>
            <a:ext cx="2282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15"/>
          <p:cNvSpPr/>
          <p:nvPr/>
        </p:nvSpPr>
        <p:spPr>
          <a:xfrm>
            <a:off x="7067520" y="6301800"/>
            <a:ext cx="90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Démocratique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ZoneTexte 16"/>
          <p:cNvSpPr/>
          <p:nvPr/>
        </p:nvSpPr>
        <p:spPr>
          <a:xfrm>
            <a:off x="271440" y="6012720"/>
            <a:ext cx="20570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TEK-UP université 2025-2026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5580000" y="4823280"/>
            <a:ext cx="1312920" cy="10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0" lang="fr-FR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Elaboré par :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</a:pPr>
            <a:r>
              <a:rPr b="0" lang="fr-FR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Med Aziz Kassi 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</a:pPr>
            <a:r>
              <a:rPr b="0" lang="fr-FR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Ilyes kharoubi 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</a:pPr>
            <a:r>
              <a:rPr b="0" lang="fr-FR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MED Lounissi 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609480" y="171360"/>
            <a:ext cx="2018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Le Problème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2"/>
          <p:cNvSpPr/>
          <p:nvPr/>
        </p:nvSpPr>
        <p:spPr>
          <a:xfrm>
            <a:off x="1485720" y="118116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3" descr="image.png"/>
          <p:cNvPicPr/>
          <p:nvPr/>
        </p:nvPicPr>
        <p:blipFill>
          <a:blip r:embed="rId1"/>
          <a:stretch/>
        </p:blipFill>
        <p:spPr>
          <a:xfrm>
            <a:off x="1638360" y="1378440"/>
            <a:ext cx="456840" cy="36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1388520" y="2100240"/>
            <a:ext cx="12614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Manque de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transparence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5"/>
          <p:cNvSpPr/>
          <p:nvPr/>
        </p:nvSpPr>
        <p:spPr>
          <a:xfrm>
            <a:off x="4305240" y="118116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Picture 6" descr="image.png"/>
          <p:cNvPicPr/>
          <p:nvPr/>
        </p:nvPicPr>
        <p:blipFill>
          <a:blip r:embed="rId2"/>
          <a:stretch/>
        </p:blipFill>
        <p:spPr>
          <a:xfrm>
            <a:off x="4457520" y="1387800"/>
            <a:ext cx="456840" cy="3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7"/>
          <p:cNvSpPr/>
          <p:nvPr/>
        </p:nvSpPr>
        <p:spPr>
          <a:xfrm>
            <a:off x="4140000" y="2100240"/>
            <a:ext cx="108972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Gestion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centralisée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8"/>
          <p:cNvSpPr/>
          <p:nvPr/>
        </p:nvSpPr>
        <p:spPr>
          <a:xfrm>
            <a:off x="7124400" y="118116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9" descr="image.png"/>
          <p:cNvPicPr/>
          <p:nvPr/>
        </p:nvPicPr>
        <p:blipFill>
          <a:blip r:embed="rId3"/>
          <a:stretch/>
        </p:blipFill>
        <p:spPr>
          <a:xfrm>
            <a:off x="7277040" y="1369440"/>
            <a:ext cx="456840" cy="3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10"/>
          <p:cNvSpPr/>
          <p:nvPr/>
        </p:nvSpPr>
        <p:spPr>
          <a:xfrm>
            <a:off x="6978600" y="2100240"/>
            <a:ext cx="11214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Absence de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démocratie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1"/>
          <p:cNvSpPr/>
          <p:nvPr/>
        </p:nvSpPr>
        <p:spPr>
          <a:xfrm>
            <a:off x="9943920" y="118116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12" descr="image.png"/>
          <p:cNvPicPr/>
          <p:nvPr/>
        </p:nvPicPr>
        <p:blipFill>
          <a:blip r:embed="rId4"/>
          <a:stretch/>
        </p:blipFill>
        <p:spPr>
          <a:xfrm>
            <a:off x="10096200" y="1387800"/>
            <a:ext cx="456840" cy="3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13"/>
          <p:cNvSpPr/>
          <p:nvPr/>
        </p:nvSpPr>
        <p:spPr>
          <a:xfrm>
            <a:off x="9720000" y="2100240"/>
            <a:ext cx="12844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Problèmes de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confiance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6"/>
          <p:cNvSpPr/>
          <p:nvPr/>
        </p:nvSpPr>
        <p:spPr>
          <a:xfrm>
            <a:off x="609480" y="3162240"/>
            <a:ext cx="5257440" cy="2666520"/>
          </a:xfrm>
          <a:prstGeom prst="roundRect">
            <a:avLst>
              <a:gd name="adj" fmla="val 857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ounded Rectangle 17"/>
          <p:cNvSpPr/>
          <p:nvPr/>
        </p:nvSpPr>
        <p:spPr>
          <a:xfrm>
            <a:off x="609480" y="3162240"/>
            <a:ext cx="5257440" cy="2666520"/>
          </a:xfrm>
          <a:prstGeom prst="roundRect">
            <a:avLst>
              <a:gd name="adj" fmla="val 16667"/>
            </a:avLst>
          </a:prstGeom>
          <a:blipFill rotWithShape="0">
            <a:blip r:embed="rId5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8"/>
          <p:cNvSpPr/>
          <p:nvPr/>
        </p:nvSpPr>
        <p:spPr>
          <a:xfrm>
            <a:off x="609480" y="5943600"/>
            <a:ext cx="525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Pyramide hiérarchique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609480" y="6210360"/>
            <a:ext cx="5257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Décisions centralisées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20"/>
          <p:cNvSpPr/>
          <p:nvPr/>
        </p:nvSpPr>
        <p:spPr>
          <a:xfrm>
            <a:off x="10696320" y="3048120"/>
            <a:ext cx="999720" cy="304560"/>
          </a:xfrm>
          <a:prstGeom prst="roundRect">
            <a:avLst>
              <a:gd name="adj" fmla="val 62493750"/>
            </a:avLst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1"/>
          <p:cNvSpPr/>
          <p:nvPr/>
        </p:nvSpPr>
        <p:spPr>
          <a:xfrm>
            <a:off x="10848600" y="3124080"/>
            <a:ext cx="6948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09325e"/>
                </a:solidFill>
                <a:effectLst/>
                <a:uFillTx/>
                <a:latin typeface="Inter"/>
              </a:rPr>
              <a:t>SOLUTION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22"/>
          <p:cNvSpPr/>
          <p:nvPr/>
        </p:nvSpPr>
        <p:spPr>
          <a:xfrm>
            <a:off x="6324480" y="3162240"/>
            <a:ext cx="5257440" cy="2666520"/>
          </a:xfrm>
          <a:prstGeom prst="roundRect">
            <a:avLst>
              <a:gd name="adj" fmla="val 16667"/>
            </a:avLst>
          </a:prstGeom>
          <a:blipFill rotWithShape="0">
            <a:blip r:embed="rId6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3"/>
          <p:cNvSpPr/>
          <p:nvPr/>
        </p:nvSpPr>
        <p:spPr>
          <a:xfrm>
            <a:off x="6324480" y="5943600"/>
            <a:ext cx="525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Réseau décentralisé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4"/>
          <p:cNvSpPr/>
          <p:nvPr/>
        </p:nvSpPr>
        <p:spPr>
          <a:xfrm>
            <a:off x="6324480" y="6210360"/>
            <a:ext cx="5257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Participation collective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609480" y="209520"/>
            <a:ext cx="2390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Notre Solution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2"/>
          <p:cNvSpPr/>
          <p:nvPr/>
        </p:nvSpPr>
        <p:spPr>
          <a:xfrm>
            <a:off x="609480" y="1924200"/>
            <a:ext cx="5181120" cy="1123560"/>
          </a:xfrm>
          <a:prstGeom prst="roundRect">
            <a:avLst>
              <a:gd name="adj" fmla="val 2711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847800" y="2152800"/>
            <a:ext cx="533160" cy="533160"/>
          </a:xfrm>
          <a:prstGeom prst="roundRect">
            <a:avLst>
              <a:gd name="adj" fmla="val 42857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4" descr="image.png"/>
          <p:cNvPicPr/>
          <p:nvPr/>
        </p:nvPicPr>
        <p:blipFill>
          <a:blip r:embed="rId1"/>
          <a:stretch/>
        </p:blipFill>
        <p:spPr>
          <a:xfrm>
            <a:off x="971640" y="2308680"/>
            <a:ext cx="28548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5"/>
          <p:cNvSpPr/>
          <p:nvPr/>
        </p:nvSpPr>
        <p:spPr>
          <a:xfrm>
            <a:off x="1533600" y="2152800"/>
            <a:ext cx="2723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Trésorerie démocratique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1533600" y="2533680"/>
            <a:ext cx="2723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Gestion via smart contracts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7"/>
          <p:cNvSpPr/>
          <p:nvPr/>
        </p:nvSpPr>
        <p:spPr>
          <a:xfrm>
            <a:off x="609480" y="3276720"/>
            <a:ext cx="5181120" cy="1123560"/>
          </a:xfrm>
          <a:prstGeom prst="roundRect">
            <a:avLst>
              <a:gd name="adj" fmla="val 2711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847800" y="3505320"/>
            <a:ext cx="533160" cy="533160"/>
          </a:xfrm>
          <a:prstGeom prst="roundRect">
            <a:avLst>
              <a:gd name="adj" fmla="val 42857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9" descr="image.png"/>
          <p:cNvPicPr/>
          <p:nvPr/>
        </p:nvPicPr>
        <p:blipFill>
          <a:blip r:embed="rId2"/>
          <a:stretch/>
        </p:blipFill>
        <p:spPr>
          <a:xfrm>
            <a:off x="971640" y="3693240"/>
            <a:ext cx="28548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0"/>
          <p:cNvSpPr/>
          <p:nvPr/>
        </p:nvSpPr>
        <p:spPr>
          <a:xfrm>
            <a:off x="1533600" y="3505320"/>
            <a:ext cx="2752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Vote collectif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1533600" y="3886200"/>
            <a:ext cx="2752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Participation de tous les membres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2"/>
          <p:cNvSpPr/>
          <p:nvPr/>
        </p:nvSpPr>
        <p:spPr>
          <a:xfrm>
            <a:off x="609480" y="4629240"/>
            <a:ext cx="5181120" cy="1123560"/>
          </a:xfrm>
          <a:prstGeom prst="roundRect">
            <a:avLst>
              <a:gd name="adj" fmla="val 2711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13"/>
          <p:cNvSpPr/>
          <p:nvPr/>
        </p:nvSpPr>
        <p:spPr>
          <a:xfrm>
            <a:off x="847800" y="4857840"/>
            <a:ext cx="533160" cy="533160"/>
          </a:xfrm>
          <a:prstGeom prst="roundRect">
            <a:avLst>
              <a:gd name="adj" fmla="val 42857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Picture 14" descr="image.png"/>
          <p:cNvPicPr/>
          <p:nvPr/>
        </p:nvPicPr>
        <p:blipFill>
          <a:blip r:embed="rId3"/>
          <a:stretch/>
        </p:blipFill>
        <p:spPr>
          <a:xfrm>
            <a:off x="971640" y="5028120"/>
            <a:ext cx="28548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15"/>
          <p:cNvSpPr/>
          <p:nvPr/>
        </p:nvSpPr>
        <p:spPr>
          <a:xfrm>
            <a:off x="1533600" y="4857840"/>
            <a:ext cx="2523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Transparence totale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1533600" y="5238720"/>
            <a:ext cx="2523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Toutes les transactions visibles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7"/>
          <p:cNvSpPr/>
          <p:nvPr/>
        </p:nvSpPr>
        <p:spPr>
          <a:xfrm>
            <a:off x="6400800" y="1371600"/>
            <a:ext cx="5181120" cy="4933440"/>
          </a:xfrm>
          <a:prstGeom prst="roundRect">
            <a:avLst>
              <a:gd name="adj" fmla="val 617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4" name="Picture 18" descr="image.png"/>
          <p:cNvPicPr/>
          <p:nvPr/>
        </p:nvPicPr>
        <p:blipFill>
          <a:blip r:embed="rId4"/>
          <a:stretch/>
        </p:blipFill>
        <p:spPr>
          <a:xfrm>
            <a:off x="6638760" y="1693080"/>
            <a:ext cx="28548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19"/>
          <p:cNvSpPr/>
          <p:nvPr/>
        </p:nvSpPr>
        <p:spPr>
          <a:xfrm>
            <a:off x="7038720" y="1619280"/>
            <a:ext cx="1676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Smart Contract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20"/>
          <p:cNvSpPr/>
          <p:nvPr/>
        </p:nvSpPr>
        <p:spPr>
          <a:xfrm>
            <a:off x="6638760" y="2133720"/>
            <a:ext cx="4704840" cy="3047760"/>
          </a:xfrm>
          <a:prstGeom prst="roundRect">
            <a:avLst>
              <a:gd name="adj" fmla="val 16667"/>
            </a:avLst>
          </a:prstGeom>
          <a:blipFill rotWithShape="0">
            <a:blip r:embed="rId5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ounded Rectangle 21"/>
          <p:cNvSpPr/>
          <p:nvPr/>
        </p:nvSpPr>
        <p:spPr>
          <a:xfrm>
            <a:off x="6638760" y="5334120"/>
            <a:ext cx="1495080" cy="723600"/>
          </a:xfrm>
          <a:prstGeom prst="roundRect">
            <a:avLst>
              <a:gd name="adj" fmla="val 21052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6752880" y="5448240"/>
            <a:ext cx="1266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1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6752880" y="5753160"/>
            <a:ext cx="1266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Préprogrammation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24"/>
          <p:cNvSpPr/>
          <p:nvPr/>
        </p:nvSpPr>
        <p:spPr>
          <a:xfrm>
            <a:off x="8248320" y="5334120"/>
            <a:ext cx="1495080" cy="723600"/>
          </a:xfrm>
          <a:prstGeom prst="roundRect">
            <a:avLst>
              <a:gd name="adj" fmla="val 21052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8362800" y="5448240"/>
            <a:ext cx="1266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2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6"/>
          <p:cNvSpPr/>
          <p:nvPr/>
        </p:nvSpPr>
        <p:spPr>
          <a:xfrm>
            <a:off x="8362800" y="5753160"/>
            <a:ext cx="1266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Exécution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27"/>
          <p:cNvSpPr/>
          <p:nvPr/>
        </p:nvSpPr>
        <p:spPr>
          <a:xfrm>
            <a:off x="9848520" y="5334120"/>
            <a:ext cx="1495080" cy="723600"/>
          </a:xfrm>
          <a:prstGeom prst="roundRect">
            <a:avLst>
              <a:gd name="adj" fmla="val 21052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9963000" y="5448240"/>
            <a:ext cx="1266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3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9963000" y="5753160"/>
            <a:ext cx="1266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Validation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609480" y="209520"/>
            <a:ext cx="3362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Fonctionnalités Clés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2"/>
          <p:cNvSpPr/>
          <p:nvPr/>
        </p:nvSpPr>
        <p:spPr>
          <a:xfrm>
            <a:off x="1219320" y="1666800"/>
            <a:ext cx="4723920" cy="2018880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ounded Rectangle 3"/>
          <p:cNvSpPr/>
          <p:nvPr/>
        </p:nvSpPr>
        <p:spPr>
          <a:xfrm>
            <a:off x="1533600" y="198108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4" descr="image.png"/>
          <p:cNvPicPr/>
          <p:nvPr/>
        </p:nvPicPr>
        <p:blipFill>
          <a:blip r:embed="rId1"/>
          <a:stretch/>
        </p:blipFill>
        <p:spPr>
          <a:xfrm>
            <a:off x="1685880" y="2223720"/>
            <a:ext cx="456840" cy="27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5"/>
          <p:cNvSpPr/>
          <p:nvPr/>
        </p:nvSpPr>
        <p:spPr>
          <a:xfrm>
            <a:off x="2523960" y="198108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  <a:spcAft>
                <a:spcPts val="780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Gestion des membres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2523960" y="2438280"/>
            <a:ext cx="310464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Inscription sécurisée, profil décentralisé et authentification via blockchain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7"/>
          <p:cNvSpPr/>
          <p:nvPr/>
        </p:nvSpPr>
        <p:spPr>
          <a:xfrm>
            <a:off x="6248160" y="1666800"/>
            <a:ext cx="4723920" cy="2018880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ounded Rectangle 8"/>
          <p:cNvSpPr/>
          <p:nvPr/>
        </p:nvSpPr>
        <p:spPr>
          <a:xfrm>
            <a:off x="6562440" y="198108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9" descr="image.png"/>
          <p:cNvPicPr/>
          <p:nvPr/>
        </p:nvPicPr>
        <p:blipFill>
          <a:blip r:embed="rId2"/>
          <a:stretch/>
        </p:blipFill>
        <p:spPr>
          <a:xfrm>
            <a:off x="6715080" y="2159280"/>
            <a:ext cx="456840" cy="40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10"/>
          <p:cNvSpPr/>
          <p:nvPr/>
        </p:nvSpPr>
        <p:spPr>
          <a:xfrm>
            <a:off x="7553160" y="198108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  <a:spcAft>
                <a:spcPts val="780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Trésorerie sécurisée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7553160" y="2438280"/>
            <a:ext cx="310464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Smart contracts certifiés, protection des fonds et audits réguliers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2"/>
          <p:cNvSpPr/>
          <p:nvPr/>
        </p:nvSpPr>
        <p:spPr>
          <a:xfrm>
            <a:off x="1219320" y="3981600"/>
            <a:ext cx="4723920" cy="2018880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ounded Rectangle 13"/>
          <p:cNvSpPr/>
          <p:nvPr/>
        </p:nvSpPr>
        <p:spPr>
          <a:xfrm>
            <a:off x="1533600" y="430524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Picture 14" descr="image.png"/>
          <p:cNvPicPr/>
          <p:nvPr/>
        </p:nvPicPr>
        <p:blipFill>
          <a:blip r:embed="rId3"/>
          <a:stretch/>
        </p:blipFill>
        <p:spPr>
          <a:xfrm>
            <a:off x="1685880" y="4493880"/>
            <a:ext cx="456840" cy="3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15"/>
          <p:cNvSpPr/>
          <p:nvPr/>
        </p:nvSpPr>
        <p:spPr>
          <a:xfrm>
            <a:off x="2523960" y="430524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  <a:spcAft>
                <a:spcPts val="780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Propositions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2523960" y="4762440"/>
            <a:ext cx="310464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Création de propositions, discussion collaborative et suivi en temps réel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7"/>
          <p:cNvSpPr/>
          <p:nvPr/>
        </p:nvSpPr>
        <p:spPr>
          <a:xfrm>
            <a:off x="6248160" y="3981600"/>
            <a:ext cx="4723920" cy="2018880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ounded Rectangle 18"/>
          <p:cNvSpPr/>
          <p:nvPr/>
        </p:nvSpPr>
        <p:spPr>
          <a:xfrm>
            <a:off x="6562440" y="4305240"/>
            <a:ext cx="761760" cy="761760"/>
          </a:xfrm>
          <a:prstGeom prst="roundRect">
            <a:avLst>
              <a:gd name="adj" fmla="val 40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19" descr="image.png"/>
          <p:cNvPicPr/>
          <p:nvPr/>
        </p:nvPicPr>
        <p:blipFill>
          <a:blip r:embed="rId4"/>
          <a:stretch/>
        </p:blipFill>
        <p:spPr>
          <a:xfrm>
            <a:off x="6715080" y="4493880"/>
            <a:ext cx="456840" cy="3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20"/>
          <p:cNvSpPr/>
          <p:nvPr/>
        </p:nvSpPr>
        <p:spPr>
          <a:xfrm>
            <a:off x="7553160" y="430524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  <a:spcAft>
                <a:spcPts val="780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Vote démocratique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7553160" y="4762440"/>
            <a:ext cx="310464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Un membre = un vote, résultats transparents et exécution automatique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609480" y="209520"/>
            <a:ext cx="2190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Technologies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2"/>
          <p:cNvSpPr/>
          <p:nvPr/>
        </p:nvSpPr>
        <p:spPr>
          <a:xfrm>
            <a:off x="609480" y="1866960"/>
            <a:ext cx="3028680" cy="1314000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ounded Rectangle 3"/>
          <p:cNvSpPr/>
          <p:nvPr/>
        </p:nvSpPr>
        <p:spPr>
          <a:xfrm>
            <a:off x="847800" y="209556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0" name="Picture 4" descr="image.png"/>
          <p:cNvPicPr/>
          <p:nvPr/>
        </p:nvPicPr>
        <p:blipFill>
          <a:blip r:embed="rId1"/>
          <a:stretch/>
        </p:blipFill>
        <p:spPr>
          <a:xfrm>
            <a:off x="981000" y="2308680"/>
            <a:ext cx="342360" cy="18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5"/>
          <p:cNvSpPr/>
          <p:nvPr/>
        </p:nvSpPr>
        <p:spPr>
          <a:xfrm>
            <a:off x="1609560" y="2095560"/>
            <a:ext cx="179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Solidity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1609560" y="2476440"/>
            <a:ext cx="179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Langage de smart contracts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7"/>
          <p:cNvSpPr/>
          <p:nvPr/>
        </p:nvSpPr>
        <p:spPr>
          <a:xfrm>
            <a:off x="3867120" y="1866960"/>
            <a:ext cx="3028680" cy="1314000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4105080" y="209556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Picture 9" descr="image.png"/>
          <p:cNvPicPr/>
          <p:nvPr/>
        </p:nvPicPr>
        <p:blipFill>
          <a:blip r:embed="rId2"/>
          <a:stretch/>
        </p:blipFill>
        <p:spPr>
          <a:xfrm>
            <a:off x="4238640" y="2240640"/>
            <a:ext cx="3423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10"/>
          <p:cNvSpPr/>
          <p:nvPr/>
        </p:nvSpPr>
        <p:spPr>
          <a:xfrm>
            <a:off x="4867200" y="2095560"/>
            <a:ext cx="179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OpenZeppelin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4867200" y="2476440"/>
            <a:ext cx="179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Bibliothèques de sécurité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2"/>
          <p:cNvSpPr/>
          <p:nvPr/>
        </p:nvSpPr>
        <p:spPr>
          <a:xfrm>
            <a:off x="609480" y="3409920"/>
            <a:ext cx="3028680" cy="108540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3"/>
          <p:cNvSpPr/>
          <p:nvPr/>
        </p:nvSpPr>
        <p:spPr>
          <a:xfrm>
            <a:off x="847800" y="363852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14" descr="image.png"/>
          <p:cNvPicPr/>
          <p:nvPr/>
        </p:nvPicPr>
        <p:blipFill>
          <a:blip r:embed="rId3"/>
          <a:stretch/>
        </p:blipFill>
        <p:spPr>
          <a:xfrm>
            <a:off x="981000" y="3890160"/>
            <a:ext cx="342360" cy="10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15"/>
          <p:cNvSpPr/>
          <p:nvPr/>
        </p:nvSpPr>
        <p:spPr>
          <a:xfrm>
            <a:off x="1609560" y="3638520"/>
            <a:ext cx="1704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Ethers.js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1609560" y="4019400"/>
            <a:ext cx="170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Bibliothèque JavaScript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7"/>
          <p:cNvSpPr/>
          <p:nvPr/>
        </p:nvSpPr>
        <p:spPr>
          <a:xfrm>
            <a:off x="3867120" y="3409920"/>
            <a:ext cx="3028680" cy="108540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ounded Rectangle 18"/>
          <p:cNvSpPr/>
          <p:nvPr/>
        </p:nvSpPr>
        <p:spPr>
          <a:xfrm>
            <a:off x="4105080" y="363852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5" name="Picture 19" descr="image.png"/>
          <p:cNvPicPr/>
          <p:nvPr/>
        </p:nvPicPr>
        <p:blipFill>
          <a:blip r:embed="rId4"/>
          <a:stretch/>
        </p:blipFill>
        <p:spPr>
          <a:xfrm>
            <a:off x="4238640" y="3810240"/>
            <a:ext cx="34236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20"/>
          <p:cNvSpPr/>
          <p:nvPr/>
        </p:nvSpPr>
        <p:spPr>
          <a:xfrm>
            <a:off x="4867200" y="3638520"/>
            <a:ext cx="1275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MetaMask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1"/>
          <p:cNvSpPr/>
          <p:nvPr/>
        </p:nvSpPr>
        <p:spPr>
          <a:xfrm>
            <a:off x="4867200" y="4019400"/>
            <a:ext cx="127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Portefeuille Web3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2"/>
          <p:cNvSpPr/>
          <p:nvPr/>
        </p:nvSpPr>
        <p:spPr>
          <a:xfrm>
            <a:off x="609480" y="4724280"/>
            <a:ext cx="6276600" cy="108540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3"/>
          <p:cNvSpPr/>
          <p:nvPr/>
        </p:nvSpPr>
        <p:spPr>
          <a:xfrm>
            <a:off x="847800" y="495288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0" name="Picture 24" descr="image.png"/>
          <p:cNvPicPr/>
          <p:nvPr/>
        </p:nvPicPr>
        <p:blipFill>
          <a:blip r:embed="rId5"/>
          <a:stretch/>
        </p:blipFill>
        <p:spPr>
          <a:xfrm>
            <a:off x="981000" y="5098320"/>
            <a:ext cx="3423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25"/>
          <p:cNvSpPr/>
          <p:nvPr/>
        </p:nvSpPr>
        <p:spPr>
          <a:xfrm>
            <a:off x="1609560" y="4952880"/>
            <a:ext cx="4866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Remix IDE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6"/>
          <p:cNvSpPr/>
          <p:nvPr/>
        </p:nvSpPr>
        <p:spPr>
          <a:xfrm>
            <a:off x="1609560" y="5334120"/>
            <a:ext cx="486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Environnement de développement en ligne pour les smart contracts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27"/>
          <p:cNvSpPr/>
          <p:nvPr/>
        </p:nvSpPr>
        <p:spPr>
          <a:xfrm>
            <a:off x="7495920" y="1219320"/>
            <a:ext cx="4085640" cy="5238360"/>
          </a:xfrm>
          <a:prstGeom prst="roundRect">
            <a:avLst>
              <a:gd name="adj" fmla="val 74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4" name="Picture 28" descr="image.png"/>
          <p:cNvPicPr/>
          <p:nvPr/>
        </p:nvPicPr>
        <p:blipFill>
          <a:blip r:embed="rId6"/>
          <a:stretch/>
        </p:blipFill>
        <p:spPr>
          <a:xfrm>
            <a:off x="7734240" y="1617120"/>
            <a:ext cx="28548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Box 29"/>
          <p:cNvSpPr/>
          <p:nvPr/>
        </p:nvSpPr>
        <p:spPr>
          <a:xfrm>
            <a:off x="8134200" y="1447920"/>
            <a:ext cx="3209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Écosystème de développement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30"/>
          <p:cNvSpPr/>
          <p:nvPr/>
        </p:nvSpPr>
        <p:spPr>
          <a:xfrm>
            <a:off x="7734240" y="2209680"/>
            <a:ext cx="3609360" cy="4000320"/>
          </a:xfrm>
          <a:prstGeom prst="roundRect">
            <a:avLst>
              <a:gd name="adj" fmla="val 16667"/>
            </a:avLst>
          </a:prstGeom>
          <a:blipFill rotWithShape="0">
            <a:blip r:embed="rId7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609480" y="209520"/>
            <a:ext cx="4076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Architecture de Sécurité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2"/>
          <p:cNvSpPr/>
          <p:nvPr/>
        </p:nvSpPr>
        <p:spPr>
          <a:xfrm>
            <a:off x="609480" y="1733400"/>
            <a:ext cx="6276600" cy="933120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ounded Rectangle 3"/>
          <p:cNvSpPr/>
          <p:nvPr/>
        </p:nvSpPr>
        <p:spPr>
          <a:xfrm>
            <a:off x="809640" y="1943280"/>
            <a:ext cx="533160" cy="533160"/>
          </a:xfrm>
          <a:prstGeom prst="roundRect">
            <a:avLst>
              <a:gd name="adj" fmla="val 28571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0" name="Picture 4" descr="image.png"/>
          <p:cNvPicPr/>
          <p:nvPr/>
        </p:nvPicPr>
        <p:blipFill>
          <a:blip r:embed="rId1"/>
          <a:stretch/>
        </p:blipFill>
        <p:spPr>
          <a:xfrm>
            <a:off x="933480" y="2075760"/>
            <a:ext cx="285480" cy="26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5"/>
          <p:cNvSpPr/>
          <p:nvPr/>
        </p:nvSpPr>
        <p:spPr>
          <a:xfrm>
            <a:off x="1495440" y="1943280"/>
            <a:ext cx="51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ReentrancyGuard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6"/>
          <p:cNvSpPr/>
          <p:nvPr/>
        </p:nvSpPr>
        <p:spPr>
          <a:xfrm>
            <a:off x="1495440" y="2247840"/>
            <a:ext cx="519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Protection contre les attaques de réentrance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7"/>
          <p:cNvSpPr/>
          <p:nvPr/>
        </p:nvSpPr>
        <p:spPr>
          <a:xfrm>
            <a:off x="609480" y="2819520"/>
            <a:ext cx="6276600" cy="933120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ounded Rectangle 8"/>
          <p:cNvSpPr/>
          <p:nvPr/>
        </p:nvSpPr>
        <p:spPr>
          <a:xfrm>
            <a:off x="809640" y="3029040"/>
            <a:ext cx="533160" cy="533160"/>
          </a:xfrm>
          <a:prstGeom prst="roundRect">
            <a:avLst>
              <a:gd name="adj" fmla="val 28571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5" name="Picture 9" descr="image.png"/>
          <p:cNvPicPr/>
          <p:nvPr/>
        </p:nvPicPr>
        <p:blipFill>
          <a:blip r:embed="rId2"/>
          <a:stretch/>
        </p:blipFill>
        <p:spPr>
          <a:xfrm>
            <a:off x="933480" y="3216960"/>
            <a:ext cx="28548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10"/>
          <p:cNvSpPr/>
          <p:nvPr/>
        </p:nvSpPr>
        <p:spPr>
          <a:xfrm>
            <a:off x="1495440" y="3029040"/>
            <a:ext cx="51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Ownable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1495440" y="3333600"/>
            <a:ext cx="519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Contrôle d'accès basé sur le propriétaire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2"/>
          <p:cNvSpPr/>
          <p:nvPr/>
        </p:nvSpPr>
        <p:spPr>
          <a:xfrm>
            <a:off x="609480" y="3905280"/>
            <a:ext cx="6276600" cy="933120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ounded Rectangle 13"/>
          <p:cNvSpPr/>
          <p:nvPr/>
        </p:nvSpPr>
        <p:spPr>
          <a:xfrm>
            <a:off x="809640" y="4114800"/>
            <a:ext cx="533160" cy="533160"/>
          </a:xfrm>
          <a:prstGeom prst="roundRect">
            <a:avLst>
              <a:gd name="adj" fmla="val 28571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14" descr="image.png"/>
          <p:cNvPicPr/>
          <p:nvPr/>
        </p:nvPicPr>
        <p:blipFill>
          <a:blip r:embed="rId3"/>
          <a:stretch/>
        </p:blipFill>
        <p:spPr>
          <a:xfrm>
            <a:off x="933480" y="4279320"/>
            <a:ext cx="285480" cy="2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Box 15"/>
          <p:cNvSpPr/>
          <p:nvPr/>
        </p:nvSpPr>
        <p:spPr>
          <a:xfrm>
            <a:off x="1495440" y="4114800"/>
            <a:ext cx="51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CEI Pattern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6"/>
          <p:cNvSpPr/>
          <p:nvPr/>
        </p:nvSpPr>
        <p:spPr>
          <a:xfrm>
            <a:off x="1495440" y="4419720"/>
            <a:ext cx="519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Checks-Effects-Interactions pour les transactions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7"/>
          <p:cNvSpPr/>
          <p:nvPr/>
        </p:nvSpPr>
        <p:spPr>
          <a:xfrm>
            <a:off x="609480" y="4991040"/>
            <a:ext cx="6276600" cy="933120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18"/>
          <p:cNvSpPr/>
          <p:nvPr/>
        </p:nvSpPr>
        <p:spPr>
          <a:xfrm>
            <a:off x="809640" y="5200560"/>
            <a:ext cx="533160" cy="533160"/>
          </a:xfrm>
          <a:prstGeom prst="roundRect">
            <a:avLst>
              <a:gd name="adj" fmla="val 28571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5" name="Picture 19" descr="image.png"/>
          <p:cNvPicPr/>
          <p:nvPr/>
        </p:nvPicPr>
        <p:blipFill>
          <a:blip r:embed="rId4"/>
          <a:stretch/>
        </p:blipFill>
        <p:spPr>
          <a:xfrm>
            <a:off x="933480" y="5333400"/>
            <a:ext cx="285480" cy="26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20"/>
          <p:cNvSpPr/>
          <p:nvPr/>
        </p:nvSpPr>
        <p:spPr>
          <a:xfrm>
            <a:off x="1495440" y="5200560"/>
            <a:ext cx="51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Validation des entrées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1"/>
          <p:cNvSpPr/>
          <p:nvPr/>
        </p:nvSpPr>
        <p:spPr>
          <a:xfrm>
            <a:off x="1495440" y="5505480"/>
            <a:ext cx="519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Vérification systématique des données externes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22"/>
          <p:cNvSpPr/>
          <p:nvPr/>
        </p:nvSpPr>
        <p:spPr>
          <a:xfrm>
            <a:off x="7495920" y="1619280"/>
            <a:ext cx="4085640" cy="4438440"/>
          </a:xfrm>
          <a:prstGeom prst="roundRect">
            <a:avLst>
              <a:gd name="adj" fmla="val 74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9" name="Picture 23" descr="image.png"/>
          <p:cNvPicPr/>
          <p:nvPr/>
        </p:nvPicPr>
        <p:blipFill>
          <a:blip r:embed="rId5"/>
          <a:stretch/>
        </p:blipFill>
        <p:spPr>
          <a:xfrm>
            <a:off x="7734240" y="1885320"/>
            <a:ext cx="285480" cy="26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Box 24"/>
          <p:cNvSpPr/>
          <p:nvPr/>
        </p:nvSpPr>
        <p:spPr>
          <a:xfrm>
            <a:off x="8134200" y="1866960"/>
            <a:ext cx="1228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CEI Pattern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25"/>
          <p:cNvSpPr/>
          <p:nvPr/>
        </p:nvSpPr>
        <p:spPr>
          <a:xfrm>
            <a:off x="7734240" y="2343240"/>
            <a:ext cx="3609360" cy="2666520"/>
          </a:xfrm>
          <a:prstGeom prst="roundRect">
            <a:avLst>
              <a:gd name="adj" fmla="val 16667"/>
            </a:avLst>
          </a:prstGeom>
          <a:blipFill rotWithShape="0">
            <a:blip r:embed="rId6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ounded Rectangle 26"/>
          <p:cNvSpPr/>
          <p:nvPr/>
        </p:nvSpPr>
        <p:spPr>
          <a:xfrm>
            <a:off x="7734240" y="5162400"/>
            <a:ext cx="1152000" cy="647280"/>
          </a:xfrm>
          <a:prstGeom prst="roundRect">
            <a:avLst>
              <a:gd name="adj" fmla="val 23529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7"/>
          <p:cNvSpPr/>
          <p:nvPr/>
        </p:nvSpPr>
        <p:spPr>
          <a:xfrm>
            <a:off x="7810200" y="5238720"/>
            <a:ext cx="999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1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8"/>
          <p:cNvSpPr/>
          <p:nvPr/>
        </p:nvSpPr>
        <p:spPr>
          <a:xfrm>
            <a:off x="7810200" y="5543640"/>
            <a:ext cx="999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Checks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29"/>
          <p:cNvSpPr/>
          <p:nvPr/>
        </p:nvSpPr>
        <p:spPr>
          <a:xfrm>
            <a:off x="8962920" y="5162400"/>
            <a:ext cx="1152000" cy="647280"/>
          </a:xfrm>
          <a:prstGeom prst="roundRect">
            <a:avLst>
              <a:gd name="adj" fmla="val 23529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30"/>
          <p:cNvSpPr/>
          <p:nvPr/>
        </p:nvSpPr>
        <p:spPr>
          <a:xfrm>
            <a:off x="9038880" y="5238720"/>
            <a:ext cx="999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2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1"/>
          <p:cNvSpPr/>
          <p:nvPr/>
        </p:nvSpPr>
        <p:spPr>
          <a:xfrm>
            <a:off x="9038880" y="5543640"/>
            <a:ext cx="999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Effects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32"/>
          <p:cNvSpPr/>
          <p:nvPr/>
        </p:nvSpPr>
        <p:spPr>
          <a:xfrm>
            <a:off x="10191600" y="5162400"/>
            <a:ext cx="1152000" cy="647280"/>
          </a:xfrm>
          <a:prstGeom prst="roundRect">
            <a:avLst>
              <a:gd name="adj" fmla="val 23529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33"/>
          <p:cNvSpPr/>
          <p:nvPr/>
        </p:nvSpPr>
        <p:spPr>
          <a:xfrm>
            <a:off x="10267560" y="5238720"/>
            <a:ext cx="999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3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4"/>
          <p:cNvSpPr/>
          <p:nvPr/>
        </p:nvSpPr>
        <p:spPr>
          <a:xfrm>
            <a:off x="10267560" y="5543640"/>
            <a:ext cx="999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Interactions</a:t>
            </a:r>
            <a:endParaRPr b="0" lang="fr-FR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609480" y="209520"/>
            <a:ext cx="5257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Architecture globale du contrat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2"/>
          <p:cNvSpPr/>
          <p:nvPr/>
        </p:nvSpPr>
        <p:spPr>
          <a:xfrm>
            <a:off x="609480" y="1114560"/>
            <a:ext cx="5333400" cy="2628720"/>
          </a:xfrm>
          <a:prstGeom prst="roundRect">
            <a:avLst>
              <a:gd name="adj" fmla="val 869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3" name="Picture 3" descr="image.png"/>
          <p:cNvPicPr/>
          <p:nvPr/>
        </p:nvPicPr>
        <p:blipFill>
          <a:blip r:embed="rId1"/>
          <a:stretch/>
        </p:blipFill>
        <p:spPr>
          <a:xfrm>
            <a:off x="809640" y="1395360"/>
            <a:ext cx="285480" cy="18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Box 4"/>
          <p:cNvSpPr/>
          <p:nvPr/>
        </p:nvSpPr>
        <p:spPr>
          <a:xfrm>
            <a:off x="1209600" y="1333440"/>
            <a:ext cx="609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Rôles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5"/>
          <p:cNvSpPr/>
          <p:nvPr/>
        </p:nvSpPr>
        <p:spPr>
          <a:xfrm>
            <a:off x="809640" y="1886040"/>
            <a:ext cx="75960" cy="75960"/>
          </a:xfrm>
          <a:prstGeom prst="roundRect">
            <a:avLst>
              <a:gd name="adj" fmla="val 249975000"/>
            </a:avLst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1000080" y="1809720"/>
            <a:ext cx="2733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Owner / Propriétaire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7"/>
          <p:cNvSpPr/>
          <p:nvPr/>
        </p:nvSpPr>
        <p:spPr>
          <a:xfrm>
            <a:off x="1000080" y="2076480"/>
            <a:ext cx="273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Gère les membres et contrôle d'accès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8"/>
          <p:cNvSpPr/>
          <p:nvPr/>
        </p:nvSpPr>
        <p:spPr>
          <a:xfrm>
            <a:off x="809640" y="2495520"/>
            <a:ext cx="75960" cy="75960"/>
          </a:xfrm>
          <a:prstGeom prst="roundRect">
            <a:avLst>
              <a:gd name="adj" fmla="val 249975000"/>
            </a:avLst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1000080" y="2419200"/>
            <a:ext cx="2952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Membres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0"/>
          <p:cNvSpPr/>
          <p:nvPr/>
        </p:nvSpPr>
        <p:spPr>
          <a:xfrm>
            <a:off x="1000080" y="2685960"/>
            <a:ext cx="295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Soumettent et votent sur les propositions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1"/>
          <p:cNvSpPr/>
          <p:nvPr/>
        </p:nvSpPr>
        <p:spPr>
          <a:xfrm>
            <a:off x="809640" y="3105000"/>
            <a:ext cx="75960" cy="75960"/>
          </a:xfrm>
          <a:prstGeom prst="roundRect">
            <a:avLst>
              <a:gd name="adj" fmla="val 249975000"/>
            </a:avLst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1000080" y="3029040"/>
            <a:ext cx="2161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Trésorier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1000080" y="3295800"/>
            <a:ext cx="2161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Exécute les paiements validés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4"/>
          <p:cNvSpPr/>
          <p:nvPr/>
        </p:nvSpPr>
        <p:spPr>
          <a:xfrm>
            <a:off x="609480" y="3924360"/>
            <a:ext cx="5333400" cy="2628720"/>
          </a:xfrm>
          <a:prstGeom prst="roundRect">
            <a:avLst>
              <a:gd name="adj" fmla="val 869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5" name="Picture 15" descr="image.png"/>
          <p:cNvPicPr/>
          <p:nvPr/>
        </p:nvPicPr>
        <p:blipFill>
          <a:blip r:embed="rId2"/>
          <a:stretch/>
        </p:blipFill>
        <p:spPr>
          <a:xfrm>
            <a:off x="809640" y="4182840"/>
            <a:ext cx="285480" cy="2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Box 16"/>
          <p:cNvSpPr/>
          <p:nvPr/>
        </p:nvSpPr>
        <p:spPr>
          <a:xfrm>
            <a:off x="1209600" y="4152960"/>
            <a:ext cx="1380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Propositions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7"/>
          <p:cNvSpPr/>
          <p:nvPr/>
        </p:nvSpPr>
        <p:spPr>
          <a:xfrm>
            <a:off x="809640" y="4629240"/>
            <a:ext cx="2409480" cy="456840"/>
          </a:xfrm>
          <a:prstGeom prst="roundRect">
            <a:avLst>
              <a:gd name="adj" fmla="val 33333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923760" y="4743360"/>
            <a:ext cx="2180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Montant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9"/>
          <p:cNvSpPr/>
          <p:nvPr/>
        </p:nvSpPr>
        <p:spPr>
          <a:xfrm>
            <a:off x="3333600" y="4629240"/>
            <a:ext cx="2409480" cy="456840"/>
          </a:xfrm>
          <a:prstGeom prst="roundRect">
            <a:avLst>
              <a:gd name="adj" fmla="val 33333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0"/>
          <p:cNvSpPr/>
          <p:nvPr/>
        </p:nvSpPr>
        <p:spPr>
          <a:xfrm>
            <a:off x="3448080" y="4743360"/>
            <a:ext cx="2180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Destinataire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21"/>
          <p:cNvSpPr/>
          <p:nvPr/>
        </p:nvSpPr>
        <p:spPr>
          <a:xfrm>
            <a:off x="809640" y="5200560"/>
            <a:ext cx="2409480" cy="456840"/>
          </a:xfrm>
          <a:prstGeom prst="roundRect">
            <a:avLst>
              <a:gd name="adj" fmla="val 33333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2"/>
          <p:cNvSpPr/>
          <p:nvPr/>
        </p:nvSpPr>
        <p:spPr>
          <a:xfrm>
            <a:off x="923760" y="5315040"/>
            <a:ext cx="2180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Description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23"/>
          <p:cNvSpPr/>
          <p:nvPr/>
        </p:nvSpPr>
        <p:spPr>
          <a:xfrm>
            <a:off x="3333600" y="5200560"/>
            <a:ext cx="2409480" cy="456840"/>
          </a:xfrm>
          <a:prstGeom prst="roundRect">
            <a:avLst>
              <a:gd name="adj" fmla="val 33333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4"/>
          <p:cNvSpPr/>
          <p:nvPr/>
        </p:nvSpPr>
        <p:spPr>
          <a:xfrm>
            <a:off x="3448080" y="5315040"/>
            <a:ext cx="2180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Deadline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25"/>
          <p:cNvSpPr/>
          <p:nvPr/>
        </p:nvSpPr>
        <p:spPr>
          <a:xfrm>
            <a:off x="6248160" y="1114560"/>
            <a:ext cx="5333400" cy="2247480"/>
          </a:xfrm>
          <a:prstGeom prst="roundRect">
            <a:avLst>
              <a:gd name="adj" fmla="val 1016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6" name="Picture 26" descr="image.png"/>
          <p:cNvPicPr/>
          <p:nvPr/>
        </p:nvPicPr>
        <p:blipFill>
          <a:blip r:embed="rId3"/>
          <a:stretch/>
        </p:blipFill>
        <p:spPr>
          <a:xfrm>
            <a:off x="6448320" y="1363320"/>
            <a:ext cx="285480" cy="2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Box 27"/>
          <p:cNvSpPr/>
          <p:nvPr/>
        </p:nvSpPr>
        <p:spPr>
          <a:xfrm>
            <a:off x="6848280" y="1333440"/>
            <a:ext cx="62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Votes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Picture 28" descr="image.png"/>
          <p:cNvPicPr/>
          <p:nvPr/>
        </p:nvPicPr>
        <p:blipFill>
          <a:blip r:embed="rId4"/>
          <a:stretch/>
        </p:blipFill>
        <p:spPr>
          <a:xfrm>
            <a:off x="6448320" y="1860480"/>
            <a:ext cx="190080" cy="16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Box 29"/>
          <p:cNvSpPr/>
          <p:nvPr/>
        </p:nvSpPr>
        <p:spPr>
          <a:xfrm>
            <a:off x="6715080" y="1828800"/>
            <a:ext cx="33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Pour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30" descr="image.png"/>
          <p:cNvPicPr/>
          <p:nvPr/>
        </p:nvPicPr>
        <p:blipFill>
          <a:blip r:embed="rId5"/>
          <a:stretch/>
        </p:blipFill>
        <p:spPr>
          <a:xfrm>
            <a:off x="8972280" y="1860480"/>
            <a:ext cx="190080" cy="16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Box 31"/>
          <p:cNvSpPr/>
          <p:nvPr/>
        </p:nvSpPr>
        <p:spPr>
          <a:xfrm>
            <a:off x="9239040" y="1828800"/>
            <a:ext cx="485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Contre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Picture 32" descr="image.png"/>
          <p:cNvPicPr/>
          <p:nvPr/>
        </p:nvPicPr>
        <p:blipFill>
          <a:blip r:embed="rId6"/>
          <a:stretch/>
        </p:blipFill>
        <p:spPr>
          <a:xfrm>
            <a:off x="6448320" y="2242800"/>
            <a:ext cx="190080" cy="1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Box 33"/>
          <p:cNvSpPr/>
          <p:nvPr/>
        </p:nvSpPr>
        <p:spPr>
          <a:xfrm>
            <a:off x="6715080" y="2209680"/>
            <a:ext cx="1066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1 vote/membre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Picture 34" descr="image.png"/>
          <p:cNvPicPr/>
          <p:nvPr/>
        </p:nvPicPr>
        <p:blipFill>
          <a:blip r:embed="rId7"/>
          <a:stretch/>
        </p:blipFill>
        <p:spPr>
          <a:xfrm>
            <a:off x="8972280" y="2248560"/>
            <a:ext cx="190080" cy="1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Box 35"/>
          <p:cNvSpPr/>
          <p:nvPr/>
        </p:nvSpPr>
        <p:spPr>
          <a:xfrm>
            <a:off x="9239040" y="2209680"/>
            <a:ext cx="1104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Comptage auto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36"/>
          <p:cNvSpPr/>
          <p:nvPr/>
        </p:nvSpPr>
        <p:spPr>
          <a:xfrm>
            <a:off x="6448320" y="2610000"/>
            <a:ext cx="4933440" cy="552240"/>
          </a:xfrm>
          <a:prstGeom prst="roundRect">
            <a:avLst>
              <a:gd name="adj" fmla="val 27586"/>
            </a:avLst>
          </a:prstGeom>
          <a:solidFill>
            <a:srgbClr val="00cd82">
              <a:alpha val="15000"/>
            </a:srgbClr>
          </a:solidFill>
          <a:ln w="8255">
            <a:solidFill>
              <a:srgbClr val="00cd8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7"/>
          <p:cNvSpPr/>
          <p:nvPr/>
        </p:nvSpPr>
        <p:spPr>
          <a:xfrm>
            <a:off x="6610320" y="2771640"/>
            <a:ext cx="460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Exécution automatique si acceptée</a:t>
            </a:r>
            <a:endParaRPr b="0" lang="fr-FR" sz="9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38"/>
          <p:cNvSpPr/>
          <p:nvPr/>
        </p:nvSpPr>
        <p:spPr>
          <a:xfrm>
            <a:off x="6248160" y="3552840"/>
            <a:ext cx="5333400" cy="2999880"/>
          </a:xfrm>
          <a:prstGeom prst="roundRect">
            <a:avLst>
              <a:gd name="adj" fmla="val 761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9" name="Picture 39" descr="image.png"/>
          <p:cNvPicPr/>
          <p:nvPr/>
        </p:nvPicPr>
        <p:blipFill>
          <a:blip r:embed="rId8"/>
          <a:stretch/>
        </p:blipFill>
        <p:spPr>
          <a:xfrm>
            <a:off x="6410160" y="3778560"/>
            <a:ext cx="228240" cy="17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40"/>
          <p:cNvSpPr/>
          <p:nvPr/>
        </p:nvSpPr>
        <p:spPr>
          <a:xfrm>
            <a:off x="6715080" y="3733920"/>
            <a:ext cx="2342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Système de gouvernance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41"/>
          <p:cNvSpPr/>
          <p:nvPr/>
        </p:nvSpPr>
        <p:spPr>
          <a:xfrm>
            <a:off x="6410160" y="4133880"/>
            <a:ext cx="5009760" cy="1904760"/>
          </a:xfrm>
          <a:prstGeom prst="roundRect">
            <a:avLst>
              <a:gd name="adj" fmla="val 16667"/>
            </a:avLst>
          </a:prstGeom>
          <a:blipFill rotWithShape="0">
            <a:blip r:embed="rId9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1"/>
          <p:cNvSpPr/>
          <p:nvPr/>
        </p:nvSpPr>
        <p:spPr>
          <a:xfrm>
            <a:off x="609480" y="209520"/>
            <a:ext cx="3380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b="1" lang="en-US" sz="215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Comment ça marche</a:t>
            </a:r>
            <a:endParaRPr b="0" lang="fr-FR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2"/>
          <p:cNvSpPr/>
          <p:nvPr/>
        </p:nvSpPr>
        <p:spPr>
          <a:xfrm>
            <a:off x="609480" y="1657440"/>
            <a:ext cx="4161960" cy="1390320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ounded Rectangle 3"/>
          <p:cNvSpPr/>
          <p:nvPr/>
        </p:nvSpPr>
        <p:spPr>
          <a:xfrm>
            <a:off x="847800" y="1886040"/>
            <a:ext cx="609120" cy="609120"/>
          </a:xfrm>
          <a:prstGeom prst="roundRect">
            <a:avLst>
              <a:gd name="adj" fmla="val 375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1095480" y="2019240"/>
            <a:ext cx="123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b="1" lang="en-US" sz="179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1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1647720" y="1886040"/>
            <a:ext cx="2885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Création de proposition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1647720" y="2266920"/>
            <a:ext cx="2885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Membre soumet une idée via MetaMask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7"/>
          <p:cNvSpPr/>
          <p:nvPr/>
        </p:nvSpPr>
        <p:spPr>
          <a:xfrm>
            <a:off x="609480" y="3276720"/>
            <a:ext cx="4161960" cy="1390320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ounded Rectangle 8"/>
          <p:cNvSpPr/>
          <p:nvPr/>
        </p:nvSpPr>
        <p:spPr>
          <a:xfrm>
            <a:off x="847800" y="3505320"/>
            <a:ext cx="609120" cy="609120"/>
          </a:xfrm>
          <a:prstGeom prst="roundRect">
            <a:avLst>
              <a:gd name="adj" fmla="val 375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9"/>
          <p:cNvSpPr/>
          <p:nvPr/>
        </p:nvSpPr>
        <p:spPr>
          <a:xfrm>
            <a:off x="1066680" y="3638520"/>
            <a:ext cx="1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b="1" lang="en-US" sz="179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2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0"/>
          <p:cNvSpPr/>
          <p:nvPr/>
        </p:nvSpPr>
        <p:spPr>
          <a:xfrm>
            <a:off x="1647720" y="3505320"/>
            <a:ext cx="2885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Vote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1647720" y="3886200"/>
            <a:ext cx="2885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Les membres votent sur la proposition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2"/>
          <p:cNvSpPr/>
          <p:nvPr/>
        </p:nvSpPr>
        <p:spPr>
          <a:xfrm>
            <a:off x="609480" y="4896000"/>
            <a:ext cx="4161960" cy="1123560"/>
          </a:xfrm>
          <a:prstGeom prst="roundRect">
            <a:avLst>
              <a:gd name="adj" fmla="val 2711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ounded Rectangle 13"/>
          <p:cNvSpPr/>
          <p:nvPr/>
        </p:nvSpPr>
        <p:spPr>
          <a:xfrm>
            <a:off x="847800" y="5124600"/>
            <a:ext cx="609120" cy="609120"/>
          </a:xfrm>
          <a:prstGeom prst="roundRect">
            <a:avLst>
              <a:gd name="adj" fmla="val 37500"/>
            </a:avLst>
          </a:prstGeom>
          <a:solidFill>
            <a:srgbClr val="00cd82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4"/>
          <p:cNvSpPr/>
          <p:nvPr/>
        </p:nvSpPr>
        <p:spPr>
          <a:xfrm>
            <a:off x="1057320" y="5257800"/>
            <a:ext cx="1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b="1" lang="en-US" sz="1790" strike="noStrike" u="none">
                <a:solidFill>
                  <a:srgbClr val="00cd82"/>
                </a:solidFill>
                <a:effectLst/>
                <a:uFillTx/>
                <a:latin typeface="Inter"/>
              </a:rPr>
              <a:t>3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5"/>
          <p:cNvSpPr/>
          <p:nvPr/>
        </p:nvSpPr>
        <p:spPr>
          <a:xfrm>
            <a:off x="1647720" y="5124600"/>
            <a:ext cx="2800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Exécution automatique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1647720" y="5505480"/>
            <a:ext cx="2800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Smart contract exécute la décision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7"/>
          <p:cNvSpPr/>
          <p:nvPr/>
        </p:nvSpPr>
        <p:spPr>
          <a:xfrm>
            <a:off x="5229000" y="1295280"/>
            <a:ext cx="6352560" cy="5067000"/>
          </a:xfrm>
          <a:prstGeom prst="roundRect">
            <a:avLst>
              <a:gd name="adj" fmla="val 601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9" name="Picture 18" descr="image.png"/>
          <p:cNvPicPr/>
          <p:nvPr/>
        </p:nvPicPr>
        <p:blipFill>
          <a:blip r:embed="rId1"/>
          <a:stretch/>
        </p:blipFill>
        <p:spPr>
          <a:xfrm>
            <a:off x="5467320" y="1603800"/>
            <a:ext cx="28548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19"/>
          <p:cNvSpPr/>
          <p:nvPr/>
        </p:nvSpPr>
        <p:spPr>
          <a:xfrm>
            <a:off x="5867280" y="1562040"/>
            <a:ext cx="2895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Flux de Gouvernance DAO</a:t>
            </a:r>
            <a:endParaRPr b="0" lang="fr-F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20"/>
          <p:cNvSpPr/>
          <p:nvPr/>
        </p:nvSpPr>
        <p:spPr>
          <a:xfrm>
            <a:off x="5467320" y="2038320"/>
            <a:ext cx="5876280" cy="409536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09325e">
                  <a:alpha val="95000"/>
                </a:srgbClr>
              </a:gs>
              <a:gs pos="100000">
                <a:srgbClr val="09325e">
                  <a:alpha val="85000"/>
                </a:srgbClr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762120" y="1219320"/>
            <a:ext cx="106675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3900"/>
              </a:lnSpc>
              <a:spcAft>
                <a:spcPts val="4161"/>
              </a:spcAft>
            </a:pPr>
            <a:r>
              <a:rPr b="1" lang="en-US" sz="287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Gestion Transparente, Sécurisée, Démocratique</a:t>
            </a:r>
            <a:endParaRPr b="0" lang="fr-FR" sz="2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4"/>
          <p:cNvSpPr/>
          <p:nvPr/>
        </p:nvSpPr>
        <p:spPr>
          <a:xfrm>
            <a:off x="3133800" y="2400480"/>
            <a:ext cx="1066320" cy="1066320"/>
          </a:xfrm>
          <a:prstGeom prst="roundRect">
            <a:avLst>
              <a:gd name="adj" fmla="val 17855357"/>
            </a:avLst>
          </a:prstGeom>
          <a:solidFill>
            <a:srgbClr val="00cd82">
              <a:alpha val="15000"/>
            </a:srgbClr>
          </a:solidFill>
          <a:ln w="16510">
            <a:solidFill>
              <a:srgbClr val="00cd8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6" name="Picture 5" descr="image.png"/>
          <p:cNvPicPr/>
          <p:nvPr/>
        </p:nvPicPr>
        <p:blipFill>
          <a:blip r:embed="rId2"/>
          <a:stretch/>
        </p:blipFill>
        <p:spPr>
          <a:xfrm>
            <a:off x="3381120" y="2748240"/>
            <a:ext cx="570960" cy="37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Box 6"/>
          <p:cNvSpPr/>
          <p:nvPr/>
        </p:nvSpPr>
        <p:spPr>
          <a:xfrm>
            <a:off x="2247840" y="3619440"/>
            <a:ext cx="2847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341"/>
              </a:lnSpc>
              <a:spcAft>
                <a:spcPts val="519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Transparente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2247840" y="4038480"/>
            <a:ext cx="2847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Transactions visibles en temps réel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8"/>
          <p:cNvSpPr/>
          <p:nvPr/>
        </p:nvSpPr>
        <p:spPr>
          <a:xfrm>
            <a:off x="6010200" y="2400480"/>
            <a:ext cx="1066320" cy="1066320"/>
          </a:xfrm>
          <a:prstGeom prst="roundRect">
            <a:avLst>
              <a:gd name="adj" fmla="val 17855357"/>
            </a:avLst>
          </a:prstGeom>
          <a:solidFill>
            <a:srgbClr val="00cd82">
              <a:alpha val="15000"/>
            </a:srgbClr>
          </a:solidFill>
          <a:ln w="16510">
            <a:solidFill>
              <a:srgbClr val="00cd8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0" name="Picture 9" descr="image.png"/>
          <p:cNvPicPr/>
          <p:nvPr/>
        </p:nvPicPr>
        <p:blipFill>
          <a:blip r:embed="rId3"/>
          <a:stretch/>
        </p:blipFill>
        <p:spPr>
          <a:xfrm>
            <a:off x="6257880" y="2669400"/>
            <a:ext cx="570960" cy="5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10"/>
          <p:cNvSpPr/>
          <p:nvPr/>
        </p:nvSpPr>
        <p:spPr>
          <a:xfrm>
            <a:off x="5543280" y="3619440"/>
            <a:ext cx="1999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341"/>
              </a:lnSpc>
              <a:spcAft>
                <a:spcPts val="519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Sécurisée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1"/>
          <p:cNvSpPr/>
          <p:nvPr/>
        </p:nvSpPr>
        <p:spPr>
          <a:xfrm>
            <a:off x="5543280" y="403848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Smart contracts certifiés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2"/>
          <p:cNvSpPr/>
          <p:nvPr/>
        </p:nvSpPr>
        <p:spPr>
          <a:xfrm>
            <a:off x="8438760" y="2400480"/>
            <a:ext cx="1066320" cy="1066320"/>
          </a:xfrm>
          <a:prstGeom prst="roundRect">
            <a:avLst>
              <a:gd name="adj" fmla="val 17855357"/>
            </a:avLst>
          </a:prstGeom>
          <a:solidFill>
            <a:srgbClr val="00cd82">
              <a:alpha val="15000"/>
            </a:srgbClr>
          </a:solidFill>
          <a:ln w="16510">
            <a:solidFill>
              <a:srgbClr val="00cd8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4" name="Picture 13" descr="image.png"/>
          <p:cNvPicPr/>
          <p:nvPr/>
        </p:nvPicPr>
        <p:blipFill>
          <a:blip r:embed="rId4"/>
          <a:stretch/>
        </p:blipFill>
        <p:spPr>
          <a:xfrm>
            <a:off x="8686440" y="2693520"/>
            <a:ext cx="570960" cy="4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Box 14"/>
          <p:cNvSpPr/>
          <p:nvPr/>
        </p:nvSpPr>
        <p:spPr>
          <a:xfrm>
            <a:off x="8000640" y="3619440"/>
            <a:ext cx="1942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341"/>
              </a:lnSpc>
              <a:spcAft>
                <a:spcPts val="519"/>
              </a:spcAft>
            </a:pPr>
            <a:r>
              <a:rPr b="1" lang="en-US" sz="179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Démocratique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8000640" y="4038480"/>
            <a:ext cx="1942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Inter"/>
              </a:rPr>
              <a:t>Un membre, un vote</a:t>
            </a:r>
            <a:endParaRPr b="0" lang="fr-FR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16"/>
          <p:cNvSpPr/>
          <p:nvPr/>
        </p:nvSpPr>
        <p:spPr>
          <a:xfrm>
            <a:off x="4000320" y="4915080"/>
            <a:ext cx="4190400" cy="723600"/>
          </a:xfrm>
          <a:prstGeom prst="roundRect">
            <a:avLst>
              <a:gd name="adj" fmla="val 42105"/>
            </a:avLst>
          </a:prstGeom>
          <a:solidFill>
            <a:srgbClr val="00cd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4457520" y="5105520"/>
            <a:ext cx="3276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341"/>
              </a:lnSpc>
            </a:pPr>
            <a:r>
              <a:rPr b="1" lang="en-US" sz="1790" strike="noStrike" u="none">
                <a:solidFill>
                  <a:srgbClr val="09325e"/>
                </a:solidFill>
                <a:effectLst/>
                <a:uFillTx/>
                <a:latin typeface="Space Grotesk"/>
              </a:rPr>
              <a:t>Rejoignez SafeClub DAO</a:t>
            </a:r>
            <a:endParaRPr b="0" lang="fr-FR" sz="1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LibreOffice/25.2.7.2$Windows_X86_64 LibreOffice_project/5cbfd1ab6520636bb5f7b99185aa69bd7456825d</Application>
  <AppVersion>15.0000</AppVersion>
  <Words>311</Words>
  <Paragraphs>111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2026-01-05T08:24:13Z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9</vt:i4>
  </property>
</Properties>
</file>